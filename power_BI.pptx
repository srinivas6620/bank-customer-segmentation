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7" r:id="rId5"/>
    <p:sldId id="268" r:id="rId6"/>
    <p:sldId id="269" r:id="rId7"/>
    <p:sldId id="260" r:id="rId8"/>
    <p:sldId id="261" r:id="rId9"/>
    <p:sldId id="262" r:id="rId10"/>
    <p:sldId id="263" r:id="rId11"/>
    <p:sldId id="270" r:id="rId12"/>
    <p:sldId id="271" r:id="rId13"/>
    <p:sldId id="266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884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6B42A-EDD9-46AE-8458-38E909735FC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A7D3E-A68D-4525-B8A9-104B9D20D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7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A7D3E-A68D-4525-B8A9-104B9D20D59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170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A7D3E-A68D-4525-B8A9-104B9D20D59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50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324" y="926338"/>
            <a:ext cx="420814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4078" y="2011933"/>
            <a:ext cx="4465701" cy="28342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8891" y="445770"/>
            <a:ext cx="8639810" cy="1223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6324" y="1692376"/>
            <a:ext cx="5309870" cy="183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43" y="163830"/>
            <a:ext cx="12183745" cy="6694170"/>
            <a:chOff x="8543" y="97906"/>
            <a:chExt cx="12183745" cy="6694170"/>
          </a:xfrm>
        </p:grpSpPr>
        <p:sp>
          <p:nvSpPr>
            <p:cNvPr id="3" name="object 3"/>
            <p:cNvSpPr/>
            <p:nvPr/>
          </p:nvSpPr>
          <p:spPr>
            <a:xfrm>
              <a:off x="1193533" y="1737867"/>
              <a:ext cx="9967595" cy="0"/>
            </a:xfrm>
            <a:custGeom>
              <a:avLst/>
              <a:gdLst/>
              <a:ahLst/>
              <a:cxnLst/>
              <a:rect l="l" t="t" r="r" b="b"/>
              <a:pathLst>
                <a:path w="9967595">
                  <a:moveTo>
                    <a:pt x="0" y="0"/>
                  </a:moveTo>
                  <a:lnTo>
                    <a:pt x="9966972" y="0"/>
                  </a:lnTo>
                </a:path>
              </a:pathLst>
            </a:custGeom>
            <a:ln w="63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3" y="97906"/>
              <a:ext cx="12183491" cy="669404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743200" y="4096005"/>
            <a:ext cx="8610600" cy="704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Customer Segmentation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890" y="445770"/>
            <a:ext cx="9455709" cy="793370"/>
          </a:xfrm>
          <a:prstGeom prst="rect">
            <a:avLst/>
          </a:prstGeom>
        </p:spPr>
        <p:txBody>
          <a:bodyPr vert="horz" wrap="square" lIns="0" tIns="1151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b="1" dirty="0">
                <a:latin typeface="Calibri"/>
                <a:cs typeface="Calibri"/>
              </a:rPr>
              <a:t>  </a:t>
            </a:r>
            <a:r>
              <a:rPr sz="4400" b="1" dirty="0">
                <a:latin typeface="Calibri"/>
                <a:cs typeface="Calibri"/>
              </a:rPr>
              <a:t>Agenda</a:t>
            </a:r>
            <a:r>
              <a:rPr sz="4400" b="1" spc="-2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(This</a:t>
            </a:r>
            <a:r>
              <a:rPr sz="4400" b="1" spc="-4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should</a:t>
            </a:r>
            <a:r>
              <a:rPr sz="4400" b="1" spc="-4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be</a:t>
            </a:r>
            <a:r>
              <a:rPr sz="4400" b="1" spc="-3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the</a:t>
            </a:r>
            <a:r>
              <a:rPr sz="4400" b="1" spc="-3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PPT</a:t>
            </a:r>
            <a:r>
              <a:rPr sz="4400" b="1" spc="-2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flow)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752600"/>
            <a:ext cx="5238115" cy="309054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60"/>
              </a:spcBef>
              <a:buSzPct val="64285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Overview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SzPct val="64285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Source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SzPct val="64285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preparation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SzPct val="64285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Dashboard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Visualizations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SzPct val="64285"/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Applications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Recommendations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SzPct val="64285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Conclusion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Q&amp;A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76324" y="926339"/>
            <a:ext cx="4462476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dirty="0">
                <a:latin typeface="Calibri"/>
                <a:cs typeface="Calibri"/>
              </a:rPr>
              <a:t>Project</a:t>
            </a:r>
            <a:r>
              <a:rPr lang="en-IN" spc="-130" dirty="0">
                <a:latin typeface="Calibri"/>
                <a:cs typeface="Calibri"/>
              </a:rPr>
              <a:t> </a:t>
            </a:r>
            <a:r>
              <a:rPr lang="en-IN" spc="-10" dirty="0">
                <a:latin typeface="Calibri"/>
                <a:cs typeface="Calibri"/>
              </a:rPr>
              <a:t>Overview</a:t>
            </a:r>
            <a:br>
              <a:rPr lang="en-IN" dirty="0">
                <a:latin typeface="Calibri"/>
                <a:cs typeface="Calibri"/>
              </a:rPr>
            </a:br>
            <a:endParaRPr spc="-45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CB3761-4B9D-0EFF-2EE1-9ED0E03918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15458" y="1828800"/>
            <a:ext cx="11049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This project aims to analyze customer transaction patterns, credit behavior, and risk levels          using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goal is to identify high-risk customers, top revenue contributors, and value distribution across customer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Insights help improve customer profiling, risk management, and targeted marketing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Metrics such as Credit Score, Account Balance, Risk Level, and Transaction Value are analyzed.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dashboard provides a data-driven overview of customer performance and business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948E-AD35-F8C4-8408-A2FD31A0B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324" y="926338"/>
            <a:ext cx="4208145" cy="1477328"/>
          </a:xfrm>
        </p:spPr>
        <p:txBody>
          <a:bodyPr/>
          <a:lstStyle/>
          <a:p>
            <a:r>
              <a:rPr lang="en-IN" dirty="0">
                <a:latin typeface="Calibri"/>
                <a:cs typeface="Calibri"/>
              </a:rPr>
              <a:t>Data</a:t>
            </a:r>
            <a:r>
              <a:rPr lang="en-IN" spc="-105" dirty="0">
                <a:latin typeface="Calibri"/>
                <a:cs typeface="Calibri"/>
              </a:rPr>
              <a:t> </a:t>
            </a:r>
            <a:r>
              <a:rPr lang="en-IN" spc="-10" dirty="0">
                <a:latin typeface="Calibri"/>
                <a:cs typeface="Calibri"/>
              </a:rPr>
              <a:t>Source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103155-7C05-E116-18DE-B1F2327ADDDF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184587" y="1981200"/>
            <a:ext cx="9601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dataset used is ‘bank_transactions’, containing detailed financial records of customer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Key columns include:</a:t>
            </a:r>
            <a:b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CustomerID, CustGender, CustAccountBalance, TransactionAmount (INR), CreditScore, CustomerSegment, ValueScore, and RiskLevel.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 was extracted from transactional logs and cleaned for duplicates, missing values, and inconsistent entries.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Each record represents a single transaction associated with a customer.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dataset serves as the foundation for generating KPIs and visual insights in Power BI.</a:t>
            </a:r>
          </a:p>
        </p:txBody>
      </p:sp>
    </p:spTree>
    <p:extLst>
      <p:ext uri="{BB962C8B-B14F-4D97-AF65-F5344CB8AC3E}">
        <p14:creationId xmlns:p14="http://schemas.microsoft.com/office/powerpoint/2010/main" val="185733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8247-8FBE-1344-FC59-4D8566EEF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990601"/>
            <a:ext cx="4724400" cy="1066800"/>
          </a:xfrm>
        </p:spPr>
        <p:txBody>
          <a:bodyPr/>
          <a:lstStyle/>
          <a:p>
            <a:r>
              <a:rPr lang="en-IN" dirty="0">
                <a:latin typeface="Calibri"/>
                <a:cs typeface="Calibri"/>
              </a:rPr>
              <a:t>Data</a:t>
            </a:r>
            <a:r>
              <a:rPr lang="en-IN" spc="-114" dirty="0">
                <a:latin typeface="Calibri"/>
                <a:cs typeface="Calibri"/>
              </a:rPr>
              <a:t> </a:t>
            </a:r>
            <a:r>
              <a:rPr lang="en-IN" spc="-10" dirty="0">
                <a:latin typeface="Calibri"/>
                <a:cs typeface="Calibri"/>
              </a:rPr>
              <a:t>preparation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2B875-A28D-5073-6ABB-B9C2560E7D7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43000" y="1828800"/>
            <a:ext cx="9220200" cy="473975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columns and measures in Power BI DAX for deeper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calculated fields: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CreditScoreValue → combines account balance and transaction amount.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ValueScore1 → calculates customer value contribution.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RiskLevel → categorizes customers into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based on CreditScore thresholds.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data transformations: formatting dates, grouping customers by segment, and creating hierarchies.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were built between key entities to enable cross-filtering.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optimized for performance and dynamic filtering.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19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FB3A-A113-3F4C-2F4F-88F417FA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990600"/>
            <a:ext cx="8023301" cy="1066800"/>
          </a:xfrm>
        </p:spPr>
        <p:txBody>
          <a:bodyPr/>
          <a:lstStyle/>
          <a:p>
            <a:r>
              <a:rPr lang="en-IN" dirty="0">
                <a:latin typeface="Calibri"/>
                <a:cs typeface="Calibri"/>
              </a:rPr>
              <a:t>Dashboard</a:t>
            </a:r>
            <a:r>
              <a:rPr lang="en-IN" spc="-135" dirty="0">
                <a:latin typeface="Calibri"/>
                <a:cs typeface="Calibri"/>
              </a:rPr>
              <a:t> </a:t>
            </a:r>
            <a:r>
              <a:rPr lang="en-IN" spc="-10" dirty="0">
                <a:latin typeface="Calibri"/>
                <a:cs typeface="Calibri"/>
              </a:rPr>
              <a:t>Visualizations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2AB9-0B88-CF9A-8556-6F575BCDD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6324" y="1905000"/>
            <a:ext cx="10634676" cy="36317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interactive visuals to explore customer and financial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Visuals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Total Revenue, Average Credit Score, High-Risk Count.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Bar/Column Chart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Revenue by Customer Segment or Risk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Relationship between Account Balance &amp; Risk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Pie/Donut Chart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Distribution of Customers by Risk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with Filters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Top 10 High-Revenue, High-Risk Customers.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 Filters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Filter by Credit Score, Value Score, or Risk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visuals enable users to drill down by segment or date.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47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" y="6334315"/>
            <a:ext cx="12192000" cy="523875"/>
            <a:chOff x="14" y="6334315"/>
            <a:chExt cx="12192000" cy="523875"/>
          </a:xfrm>
        </p:grpSpPr>
        <p:sp>
          <p:nvSpPr>
            <p:cNvPr id="3" name="object 3"/>
            <p:cNvSpPr/>
            <p:nvPr/>
          </p:nvSpPr>
          <p:spPr>
            <a:xfrm>
              <a:off x="3175" y="6400799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825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825" y="457199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" y="633431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82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825" y="64008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998562" y="351358"/>
            <a:ext cx="193675" cy="640715"/>
          </a:xfrm>
          <a:custGeom>
            <a:avLst/>
            <a:gdLst/>
            <a:ahLst/>
            <a:cxnLst/>
            <a:rect l="l" t="t" r="r" b="b"/>
            <a:pathLst>
              <a:path w="193675" h="640715">
                <a:moveTo>
                  <a:pt x="0" y="640511"/>
                </a:moveTo>
                <a:lnTo>
                  <a:pt x="193437" y="640511"/>
                </a:lnTo>
                <a:lnTo>
                  <a:pt x="193437" y="0"/>
                </a:lnTo>
                <a:lnTo>
                  <a:pt x="0" y="0"/>
                </a:lnTo>
                <a:lnTo>
                  <a:pt x="0" y="640511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04887" y="349009"/>
            <a:ext cx="193675" cy="599440"/>
          </a:xfrm>
          <a:custGeom>
            <a:avLst/>
            <a:gdLst/>
            <a:ahLst/>
            <a:cxnLst/>
            <a:rect l="l" t="t" r="r" b="b"/>
            <a:pathLst>
              <a:path w="193675" h="599440">
                <a:moveTo>
                  <a:pt x="0" y="598970"/>
                </a:moveTo>
                <a:lnTo>
                  <a:pt x="193421" y="598970"/>
                </a:lnTo>
                <a:lnTo>
                  <a:pt x="193421" y="0"/>
                </a:lnTo>
                <a:lnTo>
                  <a:pt x="0" y="0"/>
                </a:lnTo>
                <a:lnTo>
                  <a:pt x="0" y="598970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6538D8-39D4-4174-64CA-771F3EB50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786"/>
            <a:ext cx="12188825" cy="63601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51358"/>
            <a:ext cx="87630" cy="640715"/>
          </a:xfrm>
          <a:custGeom>
            <a:avLst/>
            <a:gdLst/>
            <a:ahLst/>
            <a:cxnLst/>
            <a:rect l="l" t="t" r="r" b="b"/>
            <a:pathLst>
              <a:path w="87630" h="640715">
                <a:moveTo>
                  <a:pt x="0" y="640511"/>
                </a:moveTo>
                <a:lnTo>
                  <a:pt x="87462" y="640511"/>
                </a:lnTo>
                <a:lnTo>
                  <a:pt x="87462" y="0"/>
                </a:lnTo>
                <a:lnTo>
                  <a:pt x="0" y="0"/>
                </a:lnTo>
                <a:lnTo>
                  <a:pt x="0" y="640511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086041" y="351358"/>
            <a:ext cx="106045" cy="640715"/>
          </a:xfrm>
          <a:custGeom>
            <a:avLst/>
            <a:gdLst/>
            <a:ahLst/>
            <a:cxnLst/>
            <a:rect l="l" t="t" r="r" b="b"/>
            <a:pathLst>
              <a:path w="106045" h="640715">
                <a:moveTo>
                  <a:pt x="0" y="640511"/>
                </a:moveTo>
                <a:lnTo>
                  <a:pt x="105958" y="640511"/>
                </a:lnTo>
                <a:lnTo>
                  <a:pt x="105958" y="0"/>
                </a:lnTo>
                <a:lnTo>
                  <a:pt x="0" y="0"/>
                </a:lnTo>
                <a:lnTo>
                  <a:pt x="0" y="640511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65213"/>
            <a:ext cx="87630" cy="613410"/>
          </a:xfrm>
          <a:custGeom>
            <a:avLst/>
            <a:gdLst/>
            <a:ahLst/>
            <a:cxnLst/>
            <a:rect l="l" t="t" r="r" b="b"/>
            <a:pathLst>
              <a:path w="87630" h="613410">
                <a:moveTo>
                  <a:pt x="0" y="612813"/>
                </a:moveTo>
                <a:lnTo>
                  <a:pt x="87462" y="612813"/>
                </a:lnTo>
                <a:lnTo>
                  <a:pt x="87462" y="0"/>
                </a:lnTo>
                <a:lnTo>
                  <a:pt x="0" y="0"/>
                </a:lnTo>
                <a:lnTo>
                  <a:pt x="0" y="612813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6041" y="365213"/>
            <a:ext cx="106045" cy="613410"/>
          </a:xfrm>
          <a:custGeom>
            <a:avLst/>
            <a:gdLst/>
            <a:ahLst/>
            <a:cxnLst/>
            <a:rect l="l" t="t" r="r" b="b"/>
            <a:pathLst>
              <a:path w="106045" h="613410">
                <a:moveTo>
                  <a:pt x="0" y="612813"/>
                </a:moveTo>
                <a:lnTo>
                  <a:pt x="105958" y="612813"/>
                </a:lnTo>
                <a:lnTo>
                  <a:pt x="105958" y="0"/>
                </a:lnTo>
                <a:lnTo>
                  <a:pt x="0" y="0"/>
                </a:lnTo>
                <a:lnTo>
                  <a:pt x="0" y="612813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373890-7DFF-5265-6D1D-5344A0C03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2400"/>
            <a:ext cx="12192000" cy="6487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1B787E-38A3-10C1-9FDD-AB3F5C65D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213"/>
            <a:ext cx="55880" cy="613410"/>
          </a:xfrm>
          <a:custGeom>
            <a:avLst/>
            <a:gdLst/>
            <a:ahLst/>
            <a:cxnLst/>
            <a:rect l="l" t="t" r="r" b="b"/>
            <a:pathLst>
              <a:path w="55880" h="613410">
                <a:moveTo>
                  <a:pt x="0" y="612813"/>
                </a:moveTo>
                <a:lnTo>
                  <a:pt x="55659" y="612813"/>
                </a:lnTo>
                <a:lnTo>
                  <a:pt x="55659" y="0"/>
                </a:lnTo>
                <a:lnTo>
                  <a:pt x="0" y="0"/>
                </a:lnTo>
                <a:lnTo>
                  <a:pt x="0" y="612813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ABD931-572F-F0C1-8075-8B5A4340E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2192000" cy="64008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A999-C532-46E8-7768-7C7A33A99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324" y="926339"/>
            <a:ext cx="8501076" cy="1477328"/>
          </a:xfrm>
        </p:spPr>
        <p:txBody>
          <a:bodyPr/>
          <a:lstStyle/>
          <a:p>
            <a:r>
              <a:rPr lang="en-IN" spc="-10" dirty="0">
                <a:latin typeface="Calibri"/>
                <a:cs typeface="Calibri"/>
              </a:rPr>
              <a:t>Applications</a:t>
            </a:r>
            <a:r>
              <a:rPr lang="en-IN" spc="-15" dirty="0">
                <a:latin typeface="Calibri"/>
                <a:cs typeface="Calibri"/>
              </a:rPr>
              <a:t> </a:t>
            </a:r>
            <a:r>
              <a:rPr lang="en-IN" dirty="0">
                <a:latin typeface="Calibri"/>
                <a:cs typeface="Calibri"/>
              </a:rPr>
              <a:t>&amp;</a:t>
            </a:r>
            <a:r>
              <a:rPr lang="en-IN" spc="-10" dirty="0">
                <a:latin typeface="Calibri"/>
                <a:cs typeface="Calibri"/>
              </a:rPr>
              <a:t> Recommendations</a:t>
            </a:r>
            <a:r>
              <a:rPr lang="en-IN" spc="-60" dirty="0">
                <a:latin typeface="Calibri"/>
                <a:cs typeface="Calibri"/>
              </a:rPr>
              <a:t> 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6DC32-FFAE-8249-B7AD-83F9D70682C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76324" y="1828801"/>
            <a:ext cx="9186876" cy="30777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monitor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mitigate potential losses.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Value Score and Risk Level.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assessment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analyzing behavioral patterns.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visual insights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risk management and marketing.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campaigns on high-value but moderate-risk customers.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data integration with CRM for richer behavioral tracking.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alert systems for unusually high-risk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12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78F0-FA28-54CE-B6A7-B53D87959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990599"/>
            <a:ext cx="5029200" cy="685801"/>
          </a:xfrm>
        </p:spPr>
        <p:txBody>
          <a:bodyPr/>
          <a:lstStyle/>
          <a:p>
            <a:r>
              <a:rPr lang="en-IN" dirty="0">
                <a:latin typeface="Calibri"/>
                <a:cs typeface="Calibri"/>
              </a:rPr>
              <a:t>Conclusion</a:t>
            </a:r>
            <a:r>
              <a:rPr lang="en-IN" spc="-20" dirty="0">
                <a:latin typeface="Calibri"/>
                <a:cs typeface="Calibri"/>
              </a:rPr>
              <a:t> </a:t>
            </a:r>
            <a:r>
              <a:rPr lang="en-IN" dirty="0">
                <a:latin typeface="Calibri"/>
                <a:cs typeface="Calibri"/>
              </a:rPr>
              <a:t>&amp;</a:t>
            </a:r>
            <a:r>
              <a:rPr lang="en-IN" spc="-60" dirty="0">
                <a:latin typeface="Calibri"/>
                <a:cs typeface="Calibri"/>
              </a:rPr>
              <a:t> </a:t>
            </a:r>
            <a:r>
              <a:rPr lang="en-IN" spc="-25" dirty="0">
                <a:latin typeface="Calibri"/>
                <a:cs typeface="Calibri"/>
              </a:rPr>
              <a:t>Q&amp;A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8F4B3-4753-DF31-C502-9FF3A6E0FAE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95400" y="1981200"/>
            <a:ext cx="9067800" cy="400109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Power BI dashboard successfully visualizes key business and risk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actionable intelligence to improve </a:t>
            </a:r>
            <a:r>
              <a:rPr lang="en-US" sz="2400" b="1" dirty="0"/>
              <a:t>financial strategy and customer management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Demonstrates how data analytics can help in </a:t>
            </a:r>
            <a:r>
              <a:rPr lang="en-US" sz="2400" b="1" dirty="0"/>
              <a:t>proactive risk control</a:t>
            </a:r>
            <a:r>
              <a:rPr lang="en-US" sz="2400" dirty="0"/>
              <a:t> and </a:t>
            </a:r>
            <a:r>
              <a:rPr lang="en-US" sz="2400" b="1" dirty="0"/>
              <a:t>profit optimization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Future enhancements can include </a:t>
            </a:r>
            <a:r>
              <a:rPr lang="en-US" sz="2400" b="1" dirty="0"/>
              <a:t>predictive modeling</a:t>
            </a:r>
            <a:r>
              <a:rPr lang="en-US" sz="2400" dirty="0"/>
              <a:t> for risk forecasting.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Open for Q&amp;A session to discuss insights, methodology, and next steps.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20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1213" y="3156661"/>
            <a:ext cx="2363470" cy="1366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spc="325" dirty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sz="4400" spc="400" dirty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  <a:endParaRPr sz="4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556</Words>
  <Application>Microsoft Office PowerPoint</Application>
  <PresentationFormat>Widescreen</PresentationFormat>
  <Paragraphs>58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Palatino Linotype</vt:lpstr>
      <vt:lpstr>Times New Roman</vt:lpstr>
      <vt:lpstr>Office Theme</vt:lpstr>
      <vt:lpstr>PowerPoint Presentation</vt:lpstr>
      <vt:lpstr>  Agenda (This should be the PPT flow)</vt:lpstr>
      <vt:lpstr>Project Overview </vt:lpstr>
      <vt:lpstr>Data Source </vt:lpstr>
      <vt:lpstr>Data preparation </vt:lpstr>
      <vt:lpstr>Dashboard Visualizations </vt:lpstr>
      <vt:lpstr>PowerPoint Presentation</vt:lpstr>
      <vt:lpstr>PowerPoint Presentation</vt:lpstr>
      <vt:lpstr>PowerPoint Presentation</vt:lpstr>
      <vt:lpstr>PowerPoint Presentation</vt:lpstr>
      <vt:lpstr>Applications &amp; Recommendations  </vt:lpstr>
      <vt:lpstr>Conclusion &amp; Q&amp;A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dongari srinu</cp:lastModifiedBy>
  <cp:revision>2</cp:revision>
  <dcterms:created xsi:type="dcterms:W3CDTF">2025-10-23T14:00:34Z</dcterms:created>
  <dcterms:modified xsi:type="dcterms:W3CDTF">2025-10-23T15:05:54Z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2025-10-23T00:00:00Z</vt:filetime>
  </property>
  <property fmtid="{D5CDD505-2E9C-101B-9397-08002B2CF9AE}" pid="5" name="Producer">
    <vt:lpwstr>Microsoft® PowerPoint® 2021</vt:lpwstr>
  </property>
</Properties>
</file>